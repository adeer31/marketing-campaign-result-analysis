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1D2E"/>
                </a:solidFill>
                <a:latin typeface="Arial"/>
              </a:defRPr>
            </a:pPr>
            <a:r>
              <a:rPr lang="en-ID" sz="1100" b="0" i="0" u="none" strike="noStrike" dirty="0">
                <a:solidFill>
                  <a:srgbClr val="1D1D2E"/>
                </a:solidFill>
                <a:latin typeface="Arial"/>
              </a:rPr>
              <a:t>Age Group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71E-4C14-87C7-DC5CE79F279F}"/>
              </c:ext>
            </c:extLst>
          </c:dPt>
          <c:dPt>
            <c:idx val="1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71E-4C14-87C7-DC5CE79F279F}"/>
              </c:ext>
            </c:extLst>
          </c:dPt>
          <c:dPt>
            <c:idx val="2"/>
            <c:invertIfNegative val="0"/>
            <c:bubble3D val="0"/>
            <c:spPr>
              <a:solidFill>
                <a:srgbClr val="FFB3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71E-4C14-87C7-DC5CE79F279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 baseline="0">
                    <a:solidFill>
                      <a:srgbClr val="1D1D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Adult
(36-60 yrs)</c:v>
                </c:pt>
                <c:pt idx="1">
                  <c:v>Elderly
(60+ yrs)</c:v>
                </c:pt>
                <c:pt idx="2">
                  <c:v>Young Adult
(20-35 yrs)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1330</c:v>
                </c:pt>
                <c:pt idx="1">
                  <c:v>855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71E-4C14-87C7-DC5CE79F27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 baseline="0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 baseline="0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1D2E"/>
                </a:solidFill>
                <a:latin typeface="Arial"/>
              </a:defRPr>
            </a:pPr>
            <a:r>
              <a:rPr lang="en-ID" sz="1100" b="0" i="0" u="none" strike="noStrike" dirty="0">
                <a:solidFill>
                  <a:srgbClr val="1D1D2E"/>
                </a:solidFill>
                <a:latin typeface="Arial"/>
              </a:rPr>
              <a:t>Education Level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EE4-4957-96C1-74D4581A15C7}"/>
              </c:ext>
            </c:extLst>
          </c:dPt>
          <c:dPt>
            <c:idx val="1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E4-4957-96C1-74D4581A15C7}"/>
              </c:ext>
            </c:extLst>
          </c:dPt>
          <c:dPt>
            <c:idx val="2"/>
            <c:invertIfNegative val="0"/>
            <c:bubble3D val="0"/>
            <c:spPr>
              <a:solidFill>
                <a:srgbClr val="FFB3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EE4-4957-96C1-74D4581A15C7}"/>
              </c:ext>
            </c:extLst>
          </c:dPt>
          <c:dPt>
            <c:idx val="3"/>
            <c:invertIfNegative val="0"/>
            <c:bubble3D val="0"/>
            <c:spPr>
              <a:solidFill>
                <a:srgbClr val="FFD5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EE4-4957-96C1-74D4581A15C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 baseline="0">
                    <a:solidFill>
                      <a:srgbClr val="1D1D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Bachelor</c:v>
                </c:pt>
                <c:pt idx="1">
                  <c:v>Master</c:v>
                </c:pt>
                <c:pt idx="2">
                  <c:v>Doctorate</c:v>
                </c:pt>
                <c:pt idx="3">
                  <c:v>Basic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1123</c:v>
                </c:pt>
                <c:pt idx="1">
                  <c:v>569</c:v>
                </c:pt>
                <c:pt idx="2">
                  <c:v>481</c:v>
                </c:pt>
                <c:pt idx="3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EE4-4957-96C1-74D4581A15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 baseline="0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 baseline="0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1D2E"/>
                </a:solidFill>
                <a:latin typeface="Arial"/>
              </a:defRPr>
            </a:pPr>
            <a:r>
              <a:rPr lang="en-ID" sz="1100" b="0" i="0" u="none" strike="noStrike" dirty="0">
                <a:solidFill>
                  <a:srgbClr val="1D1D2E"/>
                </a:solidFill>
                <a:latin typeface="Arial"/>
              </a:rPr>
              <a:t>Marital Status</a:t>
            </a:r>
          </a:p>
        </c:rich>
      </c:tx>
      <c:layout>
        <c:manualLayout>
          <c:xMode val="edge"/>
          <c:yMode val="edge"/>
          <c:x val="0.39073485379544948"/>
          <c:y val="6.2003968253968256E-2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Marital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99C-4D95-AEB1-95ACF9FA3CF5}"/>
              </c:ext>
            </c:extLst>
          </c:dPt>
          <c:dPt>
            <c:idx val="1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99C-4D95-AEB1-95ACF9FA3CF5}"/>
              </c:ext>
            </c:extLst>
          </c:dPt>
          <c:dPt>
            <c:idx val="2"/>
            <c:bubble3D val="0"/>
            <c:spPr>
              <a:solidFill>
                <a:srgbClr val="FF99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99C-4D95-AEB1-95ACF9FA3CF5}"/>
              </c:ext>
            </c:extLst>
          </c:dPt>
          <c:dPt>
            <c:idx val="3"/>
            <c:bubble3D val="0"/>
            <c:spPr>
              <a:solidFill>
                <a:srgbClr val="FFB3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99C-4D95-AEB1-95ACF9FA3CF5}"/>
              </c:ext>
            </c:extLst>
          </c:dPt>
          <c:dPt>
            <c:idx val="4"/>
            <c:bubble3D val="0"/>
            <c:spPr>
              <a:solidFill>
                <a:srgbClr val="FFD5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99C-4D95-AEB1-95ACF9FA3CF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99C-4D95-AEB1-95ACF9FA3CF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99C-4D95-AEB1-95ACF9FA3CF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99C-4D95-AEB1-95ACF9FA3CF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99C-4D95-AEB1-95ACF9FA3CF5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99C-4D95-AEB1-95ACF9FA3CF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 baseline="0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Married</c:v>
                </c:pt>
                <c:pt idx="1">
                  <c:v>Together</c:v>
                </c:pt>
                <c:pt idx="2">
                  <c:v>Single</c:v>
                </c:pt>
                <c:pt idx="3">
                  <c:v>Divorced</c:v>
                </c:pt>
                <c:pt idx="4">
                  <c:v>Widow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861</c:v>
                </c:pt>
                <c:pt idx="1">
                  <c:v>575</c:v>
                </c:pt>
                <c:pt idx="2">
                  <c:v>484</c:v>
                </c:pt>
                <c:pt idx="3">
                  <c:v>230</c:v>
                </c:pt>
                <c:pt idx="4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99C-4D95-AEB1-95ACF9FA3C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1D2E"/>
                </a:solidFill>
                <a:latin typeface="Arial"/>
              </a:defRPr>
            </a:pPr>
            <a:r>
              <a:rPr lang="en-ID" sz="1100" b="0" i="0" u="none" strike="noStrike" dirty="0">
                <a:solidFill>
                  <a:srgbClr val="1D1D2E"/>
                </a:solidFill>
                <a:latin typeface="Arial"/>
              </a:rPr>
              <a:t>Country Distribution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 baseline="0">
                    <a:solidFill>
                      <a:srgbClr val="1D1D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Spain</c:v>
                </c:pt>
                <c:pt idx="1">
                  <c:v>Saudi Arabia</c:v>
                </c:pt>
                <c:pt idx="2">
                  <c:v>Canada</c:v>
                </c:pt>
                <c:pt idx="3">
                  <c:v>Australia</c:v>
                </c:pt>
                <c:pt idx="4">
                  <c:v>India</c:v>
                </c:pt>
                <c:pt idx="5">
                  <c:v>Germany</c:v>
                </c:pt>
                <c:pt idx="6">
                  <c:v>USA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1091</c:v>
                </c:pt>
                <c:pt idx="1">
                  <c:v>334</c:v>
                </c:pt>
                <c:pt idx="2">
                  <c:v>266</c:v>
                </c:pt>
                <c:pt idx="3">
                  <c:v>159</c:v>
                </c:pt>
                <c:pt idx="4">
                  <c:v>146</c:v>
                </c:pt>
                <c:pt idx="5">
                  <c:v>120</c:v>
                </c:pt>
                <c:pt idx="6">
                  <c:v>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9D-41CF-91A6-E9F8F21390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 baseline="0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 baseline="0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1D2E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1D1D2E"/>
                </a:solidFill>
                <a:latin typeface="Arial"/>
              </a:rPr>
              <a:t>Total Spending by Product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Spending ($)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FF9-4E2D-97B8-990D9311981A}"/>
              </c:ext>
            </c:extLst>
          </c:dPt>
          <c:dPt>
            <c:idx val="1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FF9-4E2D-97B8-990D9311981A}"/>
              </c:ext>
            </c:extLst>
          </c:dPt>
          <c:dPt>
            <c:idx val="2"/>
            <c:invertIfNegative val="0"/>
            <c:bubble3D val="0"/>
            <c:spPr>
              <a:solidFill>
                <a:srgbClr val="FF99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FF9-4E2D-97B8-990D9311981A}"/>
              </c:ext>
            </c:extLst>
          </c:dPt>
          <c:dPt>
            <c:idx val="3"/>
            <c:invertIfNegative val="0"/>
            <c:bubble3D val="0"/>
            <c:spPr>
              <a:solidFill>
                <a:srgbClr val="FFB3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FF9-4E2D-97B8-990D9311981A}"/>
              </c:ext>
            </c:extLst>
          </c:dPt>
          <c:dPt>
            <c:idx val="4"/>
            <c:invertIfNegative val="0"/>
            <c:bubble3D val="0"/>
            <c:spPr>
              <a:solidFill>
                <a:srgbClr val="FFD5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FF9-4E2D-97B8-990D9311981A}"/>
              </c:ext>
            </c:extLst>
          </c:dPt>
          <c:dPt>
            <c:idx val="5"/>
            <c:invertIfNegative val="0"/>
            <c:bubble3D val="0"/>
            <c:spPr>
              <a:solidFill>
                <a:srgbClr val="FFE8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FF9-4E2D-97B8-990D9311981A}"/>
              </c:ext>
            </c:extLst>
          </c:dPt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D1D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Wines</c:v>
                </c:pt>
                <c:pt idx="1">
                  <c:v>Meat
Products</c:v>
                </c:pt>
                <c:pt idx="2">
                  <c:v>Gold
Prods</c:v>
                </c:pt>
                <c:pt idx="3">
                  <c:v>Fish
Products</c:v>
                </c:pt>
                <c:pt idx="4">
                  <c:v>Sweet
Products</c:v>
                </c:pt>
                <c:pt idx="5">
                  <c:v>Fruits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679115</c:v>
                </c:pt>
                <c:pt idx="1">
                  <c:v>367793</c:v>
                </c:pt>
                <c:pt idx="2">
                  <c:v>97920</c:v>
                </c:pt>
                <c:pt idx="3">
                  <c:v>83494</c:v>
                </c:pt>
                <c:pt idx="4">
                  <c:v>60482</c:v>
                </c:pt>
                <c:pt idx="5">
                  <c:v>58562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FF9-4E2D-97B8-990D931198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 baseline="0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 baseline="0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1D2E"/>
                </a:solidFill>
                <a:latin typeface="Arial"/>
              </a:defRPr>
            </a:pPr>
            <a:r>
              <a:rPr lang="en-ID" sz="1100" b="0" i="0" u="none" strike="noStrike" dirty="0">
                <a:solidFill>
                  <a:srgbClr val="1D1D2E"/>
                </a:solidFill>
                <a:latin typeface="Arial"/>
              </a:rPr>
              <a:t>Purchase Frequency by Channel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171-4B02-B80B-41C08C951056}"/>
              </c:ext>
            </c:extLst>
          </c:dPt>
          <c:dPt>
            <c:idx val="1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71-4B02-B80B-41C08C951056}"/>
              </c:ext>
            </c:extLst>
          </c:dPt>
          <c:dPt>
            <c:idx val="2"/>
            <c:invertIfNegative val="0"/>
            <c:bubble3D val="0"/>
            <c:spPr>
              <a:solidFill>
                <a:srgbClr val="FF99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171-4B02-B80B-41C08C951056}"/>
              </c:ext>
            </c:extLst>
          </c:dPt>
          <c:dPt>
            <c:idx val="3"/>
            <c:invertIfNegative val="0"/>
            <c:bubble3D val="0"/>
            <c:spPr>
              <a:solidFill>
                <a:srgbClr val="FFB3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171-4B02-B80B-41C08C95105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 baseline="0">
                    <a:solidFill>
                      <a:srgbClr val="1D1D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Store</c:v>
                </c:pt>
                <c:pt idx="1">
                  <c:v>Web</c:v>
                </c:pt>
                <c:pt idx="2">
                  <c:v>Catalog</c:v>
                </c:pt>
                <c:pt idx="3">
                  <c:v>Deals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12943</c:v>
                </c:pt>
                <c:pt idx="1">
                  <c:v>9132</c:v>
                </c:pt>
                <c:pt idx="2">
                  <c:v>5862</c:v>
                </c:pt>
                <c:pt idx="3">
                  <c:v>5167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171-4B02-B80B-41C08C9510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 baseline="0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 baseline="0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1D1D2E"/>
                </a:solidFill>
                <a:latin typeface="Arial"/>
              </a:defRPr>
            </a:pPr>
            <a:r>
              <a:rPr lang="en-ID" sz="1100" b="0" i="0" u="none" strike="noStrike" dirty="0">
                <a:solidFill>
                  <a:srgbClr val="1D1D2E"/>
                </a:solidFill>
                <a:latin typeface="Arial"/>
              </a:rPr>
              <a:t>Overal</a:t>
            </a:r>
            <a:r>
              <a:rPr lang="en-ID" sz="1100" b="0" i="0" u="none" strike="noStrike" baseline="0" dirty="0">
                <a:solidFill>
                  <a:srgbClr val="1D1D2E"/>
                </a:solidFill>
                <a:latin typeface="Arial"/>
              </a:rPr>
              <a:t>l Campaign Effectiveness</a:t>
            </a:r>
            <a:endParaRPr lang="en-ID" sz="1100" b="0" i="0" u="none" strike="noStrike" dirty="0">
              <a:solidFill>
                <a:srgbClr val="1D1D2E"/>
              </a:solidFill>
              <a:latin typeface="Arial"/>
            </a:endParaRP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Acceptances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112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054-4C29-BB99-6F48DC8DB92A}"/>
              </c:ext>
            </c:extLst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054-4C29-BB99-6F48DC8DB92A}"/>
              </c:ext>
            </c:extLst>
          </c:dPt>
          <c:dPt>
            <c:idx val="2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054-4C29-BB99-6F48DC8DB92A}"/>
              </c:ext>
            </c:extLst>
          </c:dPt>
          <c:dPt>
            <c:idx val="3"/>
            <c:bubble3D val="0"/>
            <c:spPr>
              <a:solidFill>
                <a:srgbClr val="FF99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054-4C29-BB99-6F48DC8DB92A}"/>
              </c:ext>
            </c:extLst>
          </c:dPt>
          <c:dPt>
            <c:idx val="4"/>
            <c:bubble3D val="0"/>
            <c:spPr>
              <a:solidFill>
                <a:srgbClr val="FFB3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054-4C29-BB99-6F48DC8DB92A}"/>
              </c:ext>
            </c:extLst>
          </c:dPt>
          <c:dPt>
            <c:idx val="5"/>
            <c:bubble3D val="0"/>
            <c:spPr>
              <a:solidFill>
                <a:srgbClr val="FFD5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054-4C29-BB99-6F48DC8DB92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054-4C29-BB99-6F48DC8DB92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054-4C29-BB99-6F48DC8DB92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054-4C29-BB99-6F48DC8DB92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054-4C29-BB99-6F48DC8DB92A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054-4C29-BB99-6F48DC8DB92A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054-4C29-BB99-6F48DC8DB92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Campaign 6</c:v>
                </c:pt>
                <c:pt idx="1">
                  <c:v>Campaign 4</c:v>
                </c:pt>
                <c:pt idx="2">
                  <c:v>Campaign 3</c:v>
                </c:pt>
                <c:pt idx="3">
                  <c:v>Campaign 5</c:v>
                </c:pt>
                <c:pt idx="4">
                  <c:v>Campaign 1</c:v>
                </c:pt>
                <c:pt idx="5">
                  <c:v>Campaign 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333</c:v>
                </c:pt>
                <c:pt idx="1">
                  <c:v>167</c:v>
                </c:pt>
                <c:pt idx="2">
                  <c:v>163</c:v>
                </c:pt>
                <c:pt idx="3">
                  <c:v>161</c:v>
                </c:pt>
                <c:pt idx="4">
                  <c:v>143</c:v>
                </c:pt>
                <c:pt idx="5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054-4C29-BB99-6F48DC8DB9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9721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E6394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E63946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31520"/>
            <a:ext cx="2011680" cy="3200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31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ANALYSIS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Marketing Campaign</a:t>
            </a:r>
            <a:endParaRPr lang="en-US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Analysis Report</a:t>
            </a:r>
            <a:endParaRPr lang="en-US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DB5BD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Ade Eriyanto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3200400" cy="36576"/>
          </a:xfrm>
          <a:prstGeom prst="rect">
            <a:avLst/>
          </a:prstGeom>
          <a:solidFill>
            <a:srgbClr val="E6394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Table of Contents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14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Dataset Overview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Data structure, cleaning, and key statistics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64792"/>
            <a:ext cx="50292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05840" y="17739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Customer Profile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202082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Demographics: age, education, marital status, country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2359152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23744"/>
            <a:ext cx="50292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05840" y="25328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Spending Analysis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05840" y="277977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Product category spending &amp; income correlation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3118104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82696"/>
            <a:ext cx="50292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05840" y="3291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Marketing Performance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05840" y="353872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Campaign acceptance &amp; purchase channel analysis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5760" y="3877056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041648"/>
            <a:ext cx="50292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05840" y="4050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Key Insights &amp; Recommendations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05840" y="429768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Actionable findings from the analysis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Dataset Overview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192024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14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2,227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Total Rows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68880" y="82296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822960"/>
            <a:ext cx="192024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914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29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6888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Columns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17720" y="82296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822960"/>
            <a:ext cx="192024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914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24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1772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Missing Income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Values (filled)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66560" y="82296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822960"/>
            <a:ext cx="192024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914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11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6656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Outliers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Removed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6576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 Cleaning Pipeline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" y="2862072"/>
            <a:ext cx="201168" cy="20116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852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Strip Column Names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3017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Removed extra whitespace from all column headers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5760" y="3456432"/>
            <a:ext cx="201168" cy="20116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447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383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Handle Missing Values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" y="3611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24 missing Income values filled with median ($51,600)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65760" y="4050792"/>
            <a:ext cx="201168" cy="20116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041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3977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Remove Outliers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0080" y="4206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IQR-based removal: 8 Income + 3 Age outliers removed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754880" y="2862072"/>
            <a:ext cx="201168" cy="20116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852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Clean Marital Status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029200" y="3017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YOLO &amp; Alone → Single; removed 'Absurd' entries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754880" y="3456432"/>
            <a:ext cx="201168" cy="20116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3447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0" y="3383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Standardize Education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029200" y="3611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Graduation → Bachelor; 2n Cycle → Master; PhD → Doctorate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754880" y="4050792"/>
            <a:ext cx="201168" cy="20116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4041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0" y="3977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Feature Engineering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029200" y="4206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Added Age column; computed Total Purchases &amp; Total Spending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Customer Profile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073884737"/>
              </p:ext>
            </p:extLst>
          </p:nvPr>
        </p:nvGraphicFramePr>
        <p:xfrm>
          <a:off x="365760" y="758952"/>
          <a:ext cx="402336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3352100350"/>
              </p:ext>
            </p:extLst>
          </p:nvPr>
        </p:nvGraphicFramePr>
        <p:xfrm>
          <a:off x="4475749" y="758952"/>
          <a:ext cx="402336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>
            <p:extLst>
              <p:ext uri="{D42A27DB-BD31-4B8C-83A1-F6EECF244321}">
                <p14:modId xmlns:p14="http://schemas.microsoft.com/office/powerpoint/2010/main" val="1136742526"/>
              </p:ext>
            </p:extLst>
          </p:nvPr>
        </p:nvGraphicFramePr>
        <p:xfrm>
          <a:off x="365760" y="2935224"/>
          <a:ext cx="3680460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Chart 3"/>
          <p:cNvGraphicFramePr/>
          <p:nvPr>
            <p:extLst>
              <p:ext uri="{D42A27DB-BD31-4B8C-83A1-F6EECF244321}">
                <p14:modId xmlns:p14="http://schemas.microsoft.com/office/powerpoint/2010/main" val="1629487564"/>
              </p:ext>
            </p:extLst>
          </p:nvPr>
        </p:nvGraphicFramePr>
        <p:xfrm>
          <a:off x="4160520" y="2935224"/>
          <a:ext cx="4709160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195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Key Customer Metrics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B5BD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Summary statistics from 2,227 customers post-cleaning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1554480"/>
          </a:xfrm>
          <a:prstGeom prst="rect">
            <a:avLst/>
          </a:prstGeom>
          <a:solidFill>
            <a:srgbClr val="2D2D4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34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57.12 yrs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12420" y="1856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Average Customer Age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" y="2167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Most customers are middle-aged to senior adults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1554480"/>
          </a:xfrm>
          <a:prstGeom prst="rect">
            <a:avLst/>
          </a:prstGeom>
          <a:solidFill>
            <a:srgbClr val="2D2D4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74320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234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$51,600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38500" y="1856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Average Annual Income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00400" y="2167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Moderate-to-high income bracket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743200" cy="1554480"/>
          </a:xfrm>
          <a:prstGeom prst="rect">
            <a:avLst/>
          </a:prstGeom>
          <a:solidFill>
            <a:srgbClr val="2D2D4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97280"/>
            <a:ext cx="274320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234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49.1 days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64580" y="1856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Avg. Days Since Last Buy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26480" y="2167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Customers are fairly active buyers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743200" cy="1554480"/>
          </a:xfrm>
          <a:prstGeom prst="rect">
            <a:avLst/>
          </a:prstGeom>
          <a:solidFill>
            <a:srgbClr val="2D2D4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274320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063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33,104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12420" y="3685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Total Purchase Transactions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4320" y="39959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Across all channels combined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743200" cy="1554480"/>
          </a:xfrm>
          <a:prstGeom prst="rect">
            <a:avLst/>
          </a:prstGeom>
          <a:solidFill>
            <a:srgbClr val="2D2D4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26080"/>
            <a:ext cx="274320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3063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$1,347,366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38500" y="3685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Total Spending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200400" y="39959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Revenue generated across all categories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126480" y="2926080"/>
            <a:ext cx="2743200" cy="1554480"/>
          </a:xfrm>
          <a:prstGeom prst="rect">
            <a:avLst/>
          </a:prstGeom>
          <a:solidFill>
            <a:srgbClr val="2D2D4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926080"/>
            <a:ext cx="274320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3063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44.8%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126480" y="3685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Campaign Acceptance Rate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26480" y="39959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Include all 6 campaigns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Spending Analysis by Product Category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281907986"/>
              </p:ext>
            </p:extLst>
          </p:nvPr>
        </p:nvGraphicFramePr>
        <p:xfrm>
          <a:off x="274320" y="77724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777240"/>
            <a:ext cx="28803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89320" y="822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Correlation with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Total Spending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126480" y="1417320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Income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412480" y="1508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0.82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178040" y="1572768"/>
            <a:ext cx="1097280" cy="137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7178040" y="1572768"/>
            <a:ext cx="1097280" cy="137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1847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Total Purchases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412480" y="1847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0.75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178040" y="1911096"/>
            <a:ext cx="1097280" cy="137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3"/>
          <p:cNvSpPr/>
          <p:nvPr/>
        </p:nvSpPr>
        <p:spPr>
          <a:xfrm>
            <a:off x="7178040" y="1911096"/>
            <a:ext cx="1005840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21854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412480" y="21854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0.12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178040" y="2249424"/>
            <a:ext cx="1097280" cy="137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7"/>
          <p:cNvSpPr/>
          <p:nvPr/>
        </p:nvSpPr>
        <p:spPr>
          <a:xfrm>
            <a:off x="7178040" y="2249424"/>
            <a:ext cx="444398" cy="137160"/>
          </a:xfrm>
          <a:prstGeom prst="rect">
            <a:avLst/>
          </a:prstGeom>
          <a:solidFill>
            <a:srgbClr val="FF9999"/>
          </a:solidFill>
          <a:ln/>
        </p:spPr>
      </p:sp>
      <p:sp>
        <p:nvSpPr>
          <p:cNvPr id="21" name="Text 18"/>
          <p:cNvSpPr/>
          <p:nvPr/>
        </p:nvSpPr>
        <p:spPr>
          <a:xfrm>
            <a:off x="6035040" y="25237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Recency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412480" y="25237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0.02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178040" y="2587752"/>
            <a:ext cx="1097280" cy="137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1"/>
          <p:cNvSpPr/>
          <p:nvPr/>
        </p:nvSpPr>
        <p:spPr>
          <a:xfrm>
            <a:off x="7178040" y="2587752"/>
            <a:ext cx="197510" cy="137160"/>
          </a:xfrm>
          <a:prstGeom prst="rect">
            <a:avLst/>
          </a:prstGeom>
          <a:solidFill>
            <a:srgbClr val="FFB3B3"/>
          </a:solidFill>
          <a:ln/>
        </p:spPr>
      </p:sp>
      <p:sp>
        <p:nvSpPr>
          <p:cNvPr id="25" name="Text 22"/>
          <p:cNvSpPr/>
          <p:nvPr/>
        </p:nvSpPr>
        <p:spPr>
          <a:xfrm>
            <a:off x="6035040" y="2862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Kidhome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412480" y="28620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-0.56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7178040" y="2926080"/>
            <a:ext cx="1097280" cy="137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7178040" y="2926080"/>
            <a:ext cx="921715" cy="1371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Text 26"/>
          <p:cNvSpPr/>
          <p:nvPr/>
        </p:nvSpPr>
        <p:spPr>
          <a:xfrm>
            <a:off x="603504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Web Visits/Mo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8412480" y="3200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-0.50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7178040" y="3264408"/>
            <a:ext cx="1097280" cy="137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29"/>
          <p:cNvSpPr/>
          <p:nvPr/>
        </p:nvSpPr>
        <p:spPr>
          <a:xfrm>
            <a:off x="7178040" y="3264408"/>
            <a:ext cx="822960" cy="1371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3" name="Text 30"/>
          <p:cNvSpPr/>
          <p:nvPr/>
        </p:nvSpPr>
        <p:spPr>
          <a:xfrm>
            <a:off x="6035040" y="3538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Teenhome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8412480" y="3538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-0.14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7178040" y="3602736"/>
            <a:ext cx="1097280" cy="137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Shape 33"/>
          <p:cNvSpPr/>
          <p:nvPr/>
        </p:nvSpPr>
        <p:spPr>
          <a:xfrm>
            <a:off x="7178040" y="3602736"/>
            <a:ext cx="230429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7" name="Shape 34"/>
          <p:cNvSpPr/>
          <p:nvPr/>
        </p:nvSpPr>
        <p:spPr>
          <a:xfrm>
            <a:off x="274320" y="4160520"/>
            <a:ext cx="8549640" cy="777240"/>
          </a:xfrm>
          <a:prstGeom prst="rect">
            <a:avLst/>
          </a:prstGeom>
          <a:solidFill>
            <a:srgbClr val="E63946">
              <a:alpha val="10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274320" y="4160520"/>
            <a:ext cx="54864" cy="7772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9" name="Text 36"/>
          <p:cNvSpPr/>
          <p:nvPr/>
        </p:nvSpPr>
        <p:spPr>
          <a:xfrm>
            <a:off x="411480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234440" y="420624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2E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Wines dominate spending at $679K (50.4% of total). Income (r=0.82) and Total Purchases (r=0.75) are the strongest positive drivers of spending, while having kids at home (Kidhome r=-0.56) significantly reduces spending.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Marketing Performance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2261167904"/>
              </p:ext>
            </p:extLst>
          </p:nvPr>
        </p:nvGraphicFramePr>
        <p:xfrm>
          <a:off x="4572000" y="777240"/>
          <a:ext cx="42976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749040"/>
            <a:ext cx="4114800" cy="1143000"/>
          </a:xfrm>
          <a:prstGeom prst="rect">
            <a:avLst/>
          </a:prstGeom>
          <a:solidFill>
            <a:srgbClr val="1D1D2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274320" y="38221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44.8%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2103120" y="38221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Overall Campaign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Acceptance Rate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74320" y="4462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Campaign 2 significantly underperformed vs. others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572000" y="3749040"/>
            <a:ext cx="4297680" cy="114300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0" y="3749040"/>
            <a:ext cx="54864" cy="11430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Text 9"/>
          <p:cNvSpPr/>
          <p:nvPr/>
        </p:nvSpPr>
        <p:spPr>
          <a:xfrm>
            <a:off x="4709160" y="38221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</a:t>
            </a:r>
            <a:r>
              <a:rPr lang="en-US" sz="10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Store is the #1 channel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709160" y="41148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Store purchases (12,943) lead by a wide margin, followed by Web (9,132). Catalog and Deals channels play a supplementary role.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Chart 0">
            <a:extLst>
              <a:ext uri="{FF2B5EF4-FFF2-40B4-BE49-F238E27FC236}">
                <a16:creationId xmlns:a16="http://schemas.microsoft.com/office/drawing/2014/main" id="{9165D70A-8D5D-C61F-8F63-9245EBB20F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1509784"/>
              </p:ext>
            </p:extLst>
          </p:nvPr>
        </p:nvGraphicFramePr>
        <p:xfrm>
          <a:off x="274320" y="777240"/>
          <a:ext cx="4114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Key Insights &amp; Recommendations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4864" cy="1280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14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💰 Income is the #1 Spending Driver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22529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Finding: Income correlates at r=0.82 with total spending — the strongest predictor.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12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 Segment high-income customers for premium product upselling and exclusive campaigns.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22960"/>
            <a:ext cx="54864" cy="1280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914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🍷 Wines Dominate Revenue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92040" y="122529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Finding: Wine purchases account for 50.4% ($679K) of total spending across all categories.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92040" y="16002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12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 Invest in wine loyalty programs and bundle deals with complementary products like meats.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224028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40280"/>
            <a:ext cx="54864" cy="1280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331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👨‍👩‍👧 Kids at Home Reduce Spending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1480" y="264261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Finding: Kidhome has a strong negative correlation (r=-0.56) with total spending.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" y="30175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12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 Tailor family-friendly promotions and budget-conscious offers for customers with children.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40280"/>
            <a:ext cx="54864" cy="1280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331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🏪 Store Channel Dominates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92040" y="264261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Finding: Store purchases (12,943) account for 39% of total purchase transactions.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92040" y="30175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12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 Enhance in-store experience and loyalty card programs to retain high-frequency store buyers.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57600"/>
            <a:ext cx="54864" cy="1280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749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📣 Campaign 6 Leads, Campaign 2 Needs Improvement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11480" y="405993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Finding: Campaign 6 (Response) topped with 333 acceptances. Campaign 2 had only 30 — 11x fewer.</a:t>
            </a:r>
          </a:p>
        </p:txBody>
      </p:sp>
      <p:sp>
        <p:nvSpPr>
          <p:cNvPr id="29" name="Text 27"/>
          <p:cNvSpPr/>
          <p:nvPr/>
        </p:nvSpPr>
        <p:spPr>
          <a:xfrm>
            <a:off x="411480" y="44348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12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 Scale what made Campaign 6 successful. Audit Campaign 2's targeting, timing, and creative.</a:t>
            </a:r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57600"/>
            <a:ext cx="54864" cy="1280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749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👴 Audience Skews Older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92040" y="405993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Finding: Adults (36-60) make up 59.7% and Elderly 38.4%; Young Adults are only 1.9%.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892040" y="44348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12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 Consider digital-first campaigns to expand reach to younger demographics via web/social.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E6394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E6394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Thank You</a:t>
            </a:r>
            <a:endParaRPr lang="en-US" sz="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63946"/>
                </a:solidFill>
                <a:latin typeface="Arial" panose="020B0604020202020204" pitchFamily="34" charset="0"/>
                <a:ea typeface="Calibri Light" pitchFamily="34" charset="-122"/>
                <a:cs typeface="Arial" panose="020B0604020202020204" pitchFamily="34" charset="0"/>
              </a:rPr>
              <a:t>Marketing Campaign Analysis Report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0" y="2880360"/>
            <a:ext cx="3657600" cy="36576"/>
          </a:xfrm>
          <a:prstGeom prst="rect">
            <a:avLst/>
          </a:prstGeom>
          <a:solidFill>
            <a:srgbClr val="E63946">
              <a:alpha val="4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648</Words>
  <Application>Microsoft Office PowerPoint</Application>
  <PresentationFormat>On-screen Show (16:9)</PresentationFormat>
  <Paragraphs>150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Data Analysis Report</dc:title>
  <dc:subject>PptxGenJS Presentation</dc:subject>
  <dc:creator>PptxGenJS</dc:creator>
  <cp:lastModifiedBy>Ade Eriyanto</cp:lastModifiedBy>
  <cp:revision>26</cp:revision>
  <dcterms:created xsi:type="dcterms:W3CDTF">2026-04-27T03:01:01Z</dcterms:created>
  <dcterms:modified xsi:type="dcterms:W3CDTF">2026-04-27T05:46:38Z</dcterms:modified>
</cp:coreProperties>
</file>